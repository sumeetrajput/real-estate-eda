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97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builds an analytical system to understand real estate pricing dynamics and identify investment opportunities using statistical modeling and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goal is to build a data‑driven framework that explains housing prices and detects properties priced below their expected market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combines statistical analysis, machine learning, and interactive visualization to produce actionable market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dataset contains property characteristics and historical sale prices that allow us to analyze pricing behavior in the housing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preparation ensures the dataset is structured correctly so it can be used reliably for statistical analysis and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Cleaning ensures that modeling results are not distorted by missing values, duplicated entries, or extreme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engineering allows us to capture deeper relationships between variables that may not be visible from the raw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helps reveal patterns in the data before building predictive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indicates diminishing returns for size — after a certain point additional square footage contributes less to price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shows that location remains one of the strongest real estate value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variables become the core predictors used in our regression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regression model estimates how much each property characteristic contributes to the final sale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 gap is negative, the property may be undervalued and therefore a potential investment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Clustering reveals different buyer segments within the housing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Understanding buyer personas helps developers, investors, and agents target the right market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allows analysts or decision makers to explore housing insights interactively.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system converts raw housing data into strategic market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can evolve into a full real estate intelligence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concludes the presentation of the Real Estate Price Intelligence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1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9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8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0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3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8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2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4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2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5503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67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94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63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09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5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6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 Estate Price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8282" y="4876800"/>
            <a:ext cx="5257270" cy="833730"/>
          </a:xfrm>
        </p:spPr>
        <p:txBody>
          <a:bodyPr/>
          <a:lstStyle/>
          <a:p>
            <a:r>
              <a:rPr lang="en-US" dirty="0"/>
              <a:t>Sumeet Rajput</a:t>
            </a:r>
            <a:endParaRPr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C3D809F-6E42-C76E-E29C-676EB5FD9D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20"/>
    </mc:Choice>
    <mc:Fallback>
      <p:transition spd="slow" advTm="21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estate investors struggle to identify undervalued properties.</a:t>
            </a:r>
          </a:p>
          <a:p>
            <a:r>
              <a:t>Traditional evaluation relies heavily on intuition.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84449CD-6F7F-CE46-BE8E-7B4D6BE2EB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507"/>
    </mc:Choice>
    <mc:Fallback>
      <p:transition spd="slow" advTm="27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Identify key drivers of housing prices</a:t>
            </a:r>
          </a:p>
          <a:p>
            <a:r>
              <a:t>2. Understand market structure and segmentation</a:t>
            </a:r>
          </a:p>
          <a:p>
            <a:r>
              <a:t>3. Detect undervalued investment opportunities</a:t>
            </a:r>
          </a:p>
          <a:p>
            <a:r>
              <a:t>4. Build an interactive analytics dashboard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E94DE4E-D7E3-B8B2-8972-E0AF0B6467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790"/>
    </mc:Choice>
    <mc:Fallback>
      <p:transition spd="slow" advTm="237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Ames housing‑style dataset</a:t>
            </a:r>
          </a:p>
          <a:p>
            <a:r>
              <a:t>Key variables:</a:t>
            </a:r>
          </a:p>
          <a:p>
            <a:r>
              <a:t>• SalePrice</a:t>
            </a:r>
          </a:p>
          <a:p>
            <a:r>
              <a:t>• GrLivArea</a:t>
            </a:r>
          </a:p>
          <a:p>
            <a:r>
              <a:t>• OverallQual</a:t>
            </a:r>
          </a:p>
          <a:p>
            <a:r>
              <a:t>• GarageCars</a:t>
            </a:r>
          </a:p>
          <a:p>
            <a:r>
              <a:t>• YearBuilt</a:t>
            </a:r>
          </a:p>
          <a:p>
            <a:r>
              <a:t>• Neighborhood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FA61757-80AC-5B1C-E352-80B1D27F79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14"/>
    </mc:Choice>
    <mc:Fallback>
      <p:transition spd="slow" advTm="25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Loaded data using Pandas</a:t>
            </a:r>
          </a:p>
          <a:p>
            <a:r>
              <a:t>• Removed unnecessary columns</a:t>
            </a:r>
          </a:p>
          <a:p>
            <a:r>
              <a:t>• Converted month names to numeric values</a:t>
            </a:r>
          </a:p>
          <a:p>
            <a:r>
              <a:t>• Created SaleDate variable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15622C8-3453-2568-38D8-DFC8D3D3A9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17"/>
    </mc:Choice>
    <mc:Fallback>
      <p:transition spd="slow" advTm="24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Filled numeric missing values with median</a:t>
            </a:r>
          </a:p>
          <a:p>
            <a:r>
              <a:t>• Replaced missing categorical values with 'None'</a:t>
            </a:r>
          </a:p>
          <a:p>
            <a:r>
              <a:t>• Removed duplicate records</a:t>
            </a:r>
          </a:p>
          <a:p>
            <a:r>
              <a:t>• Removed extreme outliers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490C64E-0B09-96B3-61AF-0269478814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79"/>
    </mc:Choice>
    <mc:Fallback>
      <p:transition spd="slow" advTm="235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HouseAge = YrSold − YearBuilt</a:t>
            </a:r>
          </a:p>
          <a:p>
            <a:r>
              <a:t>• PricePerSqFt</a:t>
            </a:r>
          </a:p>
          <a:p>
            <a:r>
              <a:t>• LogSalePrice transformation</a:t>
            </a:r>
          </a:p>
          <a:p>
            <a:r>
              <a:t>• Size_Quality interaction feature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786EAF4-839F-4723-538A-09A1D2FD47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61"/>
    </mc:Choice>
    <mc:Fallback>
      <p:transition spd="slow" advTm="26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Explored:</a:t>
            </a:r>
          </a:p>
          <a:p>
            <a:r>
              <a:t>• Price distribution</a:t>
            </a:r>
          </a:p>
          <a:p>
            <a:r>
              <a:t>• Size vs price relationship</a:t>
            </a:r>
          </a:p>
          <a:p>
            <a:r>
              <a:t>• Bedroom &amp; garage influence</a:t>
            </a:r>
          </a:p>
          <a:p>
            <a:r>
              <a:t>• Neighborhood price differences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70631B1-16CF-CA3E-5DDA-A4EF815577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28"/>
    </mc:Choice>
    <mc:Fallback>
      <p:transition spd="slow" advTm="20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Size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Larger houses generally sell for higher prices.</a:t>
            </a:r>
          </a:p>
          <a:p>
            <a:r>
              <a:t>However price growth slows for extremely large houses.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AB82B99-4A37-4F66-D62D-9560F0BBEE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63"/>
    </mc:Choice>
    <mc:Fallback>
      <p:transition spd="slow" advTm="23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Neighborhood significantly impacts housing prices.</a:t>
            </a:r>
          </a:p>
          <a:p>
            <a:r>
              <a:t>Certain areas consistently command higher median prices.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0A9676A-F5A5-319C-544D-0EE4965FE2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503"/>
    </mc:Choice>
    <mc:Fallback>
      <p:transition spd="slow" advTm="175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Strongest correlations with price:</a:t>
            </a:r>
          </a:p>
          <a:p>
            <a:r>
              <a:t>• Overall Quality</a:t>
            </a:r>
          </a:p>
          <a:p>
            <a:r>
              <a:t>• Living Area Size</a:t>
            </a:r>
          </a:p>
          <a:p>
            <a:r>
              <a:t>• Garage Capacity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F269B1A-C052-5741-1C2E-7E864419FA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09"/>
    </mc:Choice>
    <mc:Fallback>
      <p:transition spd="slow" advTm="186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Ordinary Least Squares (OLS)</a:t>
            </a:r>
          </a:p>
          <a:p>
            <a:r>
              <a:t>Target: LogSalePrice</a:t>
            </a:r>
          </a:p>
          <a:p>
            <a:r>
              <a:t>Features:</a:t>
            </a:r>
          </a:p>
          <a:p>
            <a:r>
              <a:t>GrLivArea, OverallQual, GarageCars, HouseAge, Size_Quality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CB4138A-8E34-79B0-135A-75BF947AAE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16"/>
    </mc:Choice>
    <mc:Fallback>
      <p:transition spd="slow" advTm="236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market price using regression model</a:t>
            </a:r>
          </a:p>
          <a:p>
            <a:r>
              <a:t>PriceGap = Actual Price − Predicted Price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A0ABDB6-DAB8-04D5-AAD2-F290B870E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897"/>
    </mc:Choice>
    <mc:Fallback>
      <p:transition spd="slow" advTm="198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KMeans clustering (4 clusters)</a:t>
            </a:r>
          </a:p>
          <a:p>
            <a:r>
              <a:t>Features:</a:t>
            </a:r>
          </a:p>
          <a:p>
            <a:r>
              <a:t>• Living Area</a:t>
            </a:r>
          </a:p>
          <a:p>
            <a:r>
              <a:t>• Quality</a:t>
            </a:r>
          </a:p>
          <a:p>
            <a:r>
              <a:t>• Garage capacity</a:t>
            </a:r>
          </a:p>
          <a:p>
            <a:r>
              <a:t>• Price per SqFt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2C27C0B-7904-F03D-AA5A-CDF6AFBEEE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72"/>
    </mc:Choice>
    <mc:Fallback>
      <p:transition spd="slow" advTm="17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Personas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Budget Buyers</a:t>
            </a:r>
          </a:p>
          <a:p>
            <a:r>
              <a:t>• Family Homes</a:t>
            </a:r>
          </a:p>
          <a:p>
            <a:r>
              <a:t>• Premium Properties</a:t>
            </a:r>
          </a:p>
          <a:p>
            <a:r>
              <a:t>• Luxury Segment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41B9E52-F37B-6147-37A3-4A0089AA99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56"/>
    </mc:Choice>
    <mc:Fallback>
      <p:transition spd="slow" advTm="155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ipywidgets</a:t>
            </a:r>
          </a:p>
          <a:p>
            <a:r>
              <a:t>Users select analysis via dropdown</a:t>
            </a:r>
          </a:p>
          <a:p>
            <a:r>
              <a:t>Dynamic visualizations displayed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FAE6D0EC-B3A6-03F9-B1F1-1CD49087E8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94"/>
    </mc:Choice>
    <mc:Fallback>
      <p:transition spd="slow" advTm="224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undervalued properties</a:t>
            </a:r>
          </a:p>
          <a:p>
            <a:r>
              <a:t>• Understand price drivers</a:t>
            </a:r>
          </a:p>
          <a:p>
            <a:r>
              <a:t>• Improve investment decision making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79B816A-9AA1-23B1-BF8E-11F414D3B0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146"/>
    </mc:Choice>
    <mc:Fallback>
      <p:transition spd="slow" advTm="20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more ML models</a:t>
            </a:r>
          </a:p>
          <a:p>
            <a:r>
              <a:t>• Integrate geospatial analysis</a:t>
            </a:r>
          </a:p>
          <a:p>
            <a:r>
              <a:t>• Build web dashboard</a:t>
            </a:r>
          </a:p>
          <a:p>
            <a:r>
              <a:t>• Deploy prediction API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DACDDE5-FBD5-AF56-476D-3A7F9329E4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26"/>
    </mc:Choice>
    <mc:Fallback>
      <p:transition spd="slow" advTm="18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analyzed </a:t>
            </a:r>
            <a:r>
              <a:rPr lang="en-US" b="1" dirty="0"/>
              <a:t>real estate housing data</a:t>
            </a:r>
            <a:r>
              <a:rPr lang="en-US" dirty="0"/>
              <a:t> to understand the key factors influencing property prices.</a:t>
            </a:r>
          </a:p>
          <a:p>
            <a:r>
              <a:rPr lang="en-US" dirty="0"/>
              <a:t>Through </a:t>
            </a:r>
            <a:r>
              <a:rPr lang="en-US" b="1" dirty="0"/>
              <a:t>data cleaning, feature engineering, and exploratory analysis</a:t>
            </a:r>
            <a:r>
              <a:rPr lang="en-US" dirty="0"/>
              <a:t>, important pricing patterns were identified.</a:t>
            </a:r>
          </a:p>
          <a:p>
            <a:r>
              <a:rPr lang="en-US" dirty="0"/>
              <a:t>The analysis showed that </a:t>
            </a:r>
            <a:r>
              <a:rPr lang="en-US" b="1" dirty="0"/>
              <a:t>house size, overall quality, location, and amenities</a:t>
            </a:r>
            <a:r>
              <a:rPr lang="en-US" dirty="0"/>
              <a:t> are the strongest drivers of housing prices.</a:t>
            </a:r>
          </a:p>
          <a:p>
            <a:r>
              <a:rPr lang="en-US" dirty="0"/>
              <a:t>A </a:t>
            </a:r>
            <a:r>
              <a:rPr lang="en-US" b="1" dirty="0"/>
              <a:t>regression model</a:t>
            </a:r>
            <a:r>
              <a:rPr lang="en-US" dirty="0"/>
              <a:t> was used to estimate property values and detect potential </a:t>
            </a:r>
            <a:r>
              <a:rPr lang="en-US" b="1" dirty="0"/>
              <a:t>undervalued investment opportunities</a:t>
            </a:r>
            <a:r>
              <a:rPr lang="en-US" dirty="0"/>
              <a:t>.</a:t>
            </a:r>
          </a:p>
          <a:p>
            <a:r>
              <a:rPr lang="en-US" dirty="0"/>
              <a:t>Additionally, </a:t>
            </a:r>
            <a:r>
              <a:rPr lang="en-US" b="1" dirty="0"/>
              <a:t>clustering techniques</a:t>
            </a:r>
            <a:r>
              <a:rPr lang="en-US" dirty="0"/>
              <a:t> helped segment the market into different buyer groups.</a:t>
            </a:r>
          </a:p>
          <a:p>
            <a:pPr marL="36900" indent="0">
              <a:buNone/>
            </a:pPr>
            <a:endParaRPr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CC73D57-CC73-0DC4-806B-B2B715E4C7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94"/>
    </mc:Choice>
    <mc:Fallback>
      <p:transition spd="slow" advTm="314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22</TotalTime>
  <Words>742</Words>
  <Application>Microsoft Office PowerPoint</Application>
  <PresentationFormat>On-screen Show (4:3)</PresentationFormat>
  <Paragraphs>109</Paragraphs>
  <Slides>19</Slides>
  <Notes>19</Notes>
  <HiddenSlides>0</HiddenSlides>
  <MMClips>19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Calisto MT</vt:lpstr>
      <vt:lpstr>Wingdings 2</vt:lpstr>
      <vt:lpstr>Slate</vt:lpstr>
      <vt:lpstr>Real Estate Price Intelligence System</vt:lpstr>
      <vt:lpstr>Business Problem</vt:lpstr>
      <vt:lpstr>Project Objectives</vt:lpstr>
      <vt:lpstr>Dataset Overview</vt:lpstr>
      <vt:lpstr>Data Preparation</vt:lpstr>
      <vt:lpstr>Data Cleaning</vt:lpstr>
      <vt:lpstr>Feature Engineering</vt:lpstr>
      <vt:lpstr>Exploratory Data Analysis</vt:lpstr>
      <vt:lpstr>Key Insight: Size Impact</vt:lpstr>
      <vt:lpstr>Location Premium</vt:lpstr>
      <vt:lpstr>Correlation Analysis</vt:lpstr>
      <vt:lpstr>Regression Modeling</vt:lpstr>
      <vt:lpstr>Investment Opportunity Detection</vt:lpstr>
      <vt:lpstr>Market Segmentation</vt:lpstr>
      <vt:lpstr>Buyer Personas Identified</vt:lpstr>
      <vt:lpstr>Interactive Analytics Dashboard</vt:lpstr>
      <vt:lpstr>Business Value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Sumeet Rajput</cp:lastModifiedBy>
  <cp:revision>2</cp:revision>
  <dcterms:created xsi:type="dcterms:W3CDTF">2013-01-27T09:14:16Z</dcterms:created>
  <dcterms:modified xsi:type="dcterms:W3CDTF">2026-03-12T08:00:12Z</dcterms:modified>
  <cp:category/>
</cp:coreProperties>
</file>