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Sale Price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230-4DE0-87D6-9CB9CBC065E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230-4DE0-87D6-9CB9CBC065E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230-4DE0-87D6-9CB9CBC065E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230-4DE0-87D6-9CB9CBC065E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230-4DE0-87D6-9CB9CBC065E9}"/>
              </c:ext>
            </c:extLst>
          </c:dPt>
          <c:dPt>
            <c:idx val="5"/>
            <c:invertIfNegative val="0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230-4DE0-87D6-9CB9CBC065E9}"/>
              </c:ext>
            </c:extLst>
          </c:dPt>
          <c:dPt>
            <c:idx val="6"/>
            <c:invertIfNegative val="0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230-4DE0-87D6-9CB9CBC065E9}"/>
              </c:ext>
            </c:extLst>
          </c:dPt>
          <c:cat>
            <c:strRef>
              <c:f>Sheet1!$A$2:$A$8</c:f>
              <c:strCache>
                <c:ptCount val="7"/>
                <c:pt idx="0">
                  <c:v>&lt;$100K</c:v>
                </c:pt>
                <c:pt idx="1">
                  <c:v>$100-150K</c:v>
                </c:pt>
                <c:pt idx="2">
                  <c:v>$150-200K</c:v>
                </c:pt>
                <c:pt idx="3">
                  <c:v>$200-250K</c:v>
                </c:pt>
                <c:pt idx="4">
                  <c:v>$250-300K</c:v>
                </c:pt>
                <c:pt idx="5">
                  <c:v>$300-400K</c:v>
                </c:pt>
                <c:pt idx="6">
                  <c:v>&gt;$400K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85</c:v>
                </c:pt>
                <c:pt idx="1">
                  <c:v>215</c:v>
                </c:pt>
                <c:pt idx="2">
                  <c:v>310</c:v>
                </c:pt>
                <c:pt idx="3">
                  <c:v>270</c:v>
                </c:pt>
                <c:pt idx="4">
                  <c:v>195</c:v>
                </c:pt>
                <c:pt idx="5">
                  <c:v>230</c:v>
                </c:pt>
                <c:pt idx="6">
                  <c:v>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230-4DE0-87D6-9CB9CBC065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Correlation with SalePrice (r × 100)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Pearson r × 100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52E-46D2-96F2-A3F4453B800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52E-46D2-96F2-A3F4453B800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52E-46D2-96F2-A3F4453B800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B52E-46D2-96F2-A3F4453B800B}"/>
              </c:ext>
            </c:extLst>
          </c:dPt>
          <c:dPt>
            <c:idx val="4"/>
            <c:invertIfNegative val="0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52E-46D2-96F2-A3F4453B800B}"/>
              </c:ext>
            </c:extLst>
          </c:dPt>
          <c:dPt>
            <c:idx val="5"/>
            <c:invertIfNegative val="0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52E-46D2-96F2-A3F4453B800B}"/>
              </c:ext>
            </c:extLst>
          </c:dPt>
          <c:dPt>
            <c:idx val="6"/>
            <c:invertIfNegative val="0"/>
            <c:bubble3D val="0"/>
            <c:spPr>
              <a:solidFill>
                <a:srgbClr val="C84B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52E-46D2-96F2-A3F4453B800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Size_Quality</c:v>
                </c:pt>
                <c:pt idx="1">
                  <c:v>OverallQual</c:v>
                </c:pt>
                <c:pt idx="2">
                  <c:v>GrLivArea</c:v>
                </c:pt>
                <c:pt idx="3">
                  <c:v>TotalSF</c:v>
                </c:pt>
                <c:pt idx="4">
                  <c:v>GarageCars</c:v>
                </c:pt>
                <c:pt idx="5">
                  <c:v>TotalBath</c:v>
                </c:pt>
                <c:pt idx="6">
                  <c:v>HouseAge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82</c:v>
                </c:pt>
                <c:pt idx="1">
                  <c:v>79</c:v>
                </c:pt>
                <c:pt idx="2">
                  <c:v>71</c:v>
                </c:pt>
                <c:pt idx="3">
                  <c:v>69</c:v>
                </c:pt>
                <c:pt idx="4">
                  <c:v>64</c:v>
                </c:pt>
                <c:pt idx="5">
                  <c:v>56</c:v>
                </c:pt>
                <c:pt idx="6">
                  <c:v>-37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52E-46D2-96F2-A3F4453B80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40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Top Neighborhoods by Median Price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Sale Price ($)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CD6-483C-BA20-A85C781E621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CD6-483C-BA20-A85C781E621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CD6-483C-BA20-A85C781E621B}"/>
              </c:ext>
            </c:extLst>
          </c:dPt>
          <c:dPt>
            <c:idx val="3"/>
            <c:invertIfNegative val="0"/>
            <c:bubble3D val="0"/>
            <c:spPr>
              <a:solidFill>
                <a:srgbClr val="1B99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CD6-483C-BA20-A85C781E621B}"/>
              </c:ext>
            </c:extLst>
          </c:dPt>
          <c:dPt>
            <c:idx val="4"/>
            <c:invertIfNegative val="0"/>
            <c:bubble3D val="0"/>
            <c:spPr>
              <a:solidFill>
                <a:srgbClr val="1B99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CD6-483C-BA20-A85C781E621B}"/>
              </c:ext>
            </c:extLst>
          </c:dPt>
          <c:dPt>
            <c:idx val="5"/>
            <c:invertIfNegative val="0"/>
            <c:bubble3D val="0"/>
            <c:spPr>
              <a:solidFill>
                <a:srgbClr val="1B99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CD6-483C-BA20-A85C781E621B}"/>
              </c:ext>
            </c:extLst>
          </c:dPt>
          <c:dPt>
            <c:idx val="6"/>
            <c:invertIfNegative val="0"/>
            <c:bubble3D val="0"/>
            <c:spPr>
              <a:solidFill>
                <a:srgbClr val="8FA3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CD6-483C-BA20-A85C781E621B}"/>
              </c:ext>
            </c:extLst>
          </c:dPt>
          <c:dPt>
            <c:idx val="7"/>
            <c:invertIfNegative val="0"/>
            <c:bubble3D val="0"/>
            <c:spPr>
              <a:solidFill>
                <a:srgbClr val="8FA3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CD6-483C-BA20-A85C781E621B}"/>
              </c:ext>
            </c:extLst>
          </c:dPt>
          <c:dPt>
            <c:idx val="8"/>
            <c:invertIfNegative val="0"/>
            <c:bubble3D val="0"/>
            <c:spPr>
              <a:solidFill>
                <a:srgbClr val="8FA3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CD6-483C-BA20-A85C781E621B}"/>
              </c:ext>
            </c:extLst>
          </c:dPt>
          <c:dPt>
            <c:idx val="9"/>
            <c:invertIfNegative val="0"/>
            <c:bubble3D val="0"/>
            <c:spPr>
              <a:solidFill>
                <a:srgbClr val="8FA3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CCD6-483C-BA20-A85C781E621B}"/>
              </c:ext>
            </c:extLst>
          </c:dPt>
          <c:cat>
            <c:strRef>
              <c:f>Sheet1!$A$2:$A$11</c:f>
              <c:strCache>
                <c:ptCount val="10"/>
                <c:pt idx="0">
                  <c:v>NoRidge</c:v>
                </c:pt>
                <c:pt idx="1">
                  <c:v>NridgHt</c:v>
                </c:pt>
                <c:pt idx="2">
                  <c:v>StoneBr</c:v>
                </c:pt>
                <c:pt idx="3">
                  <c:v>Timber</c:v>
                </c:pt>
                <c:pt idx="4">
                  <c:v>Veenker</c:v>
                </c:pt>
                <c:pt idx="5">
                  <c:v>Somerst</c:v>
                </c:pt>
                <c:pt idx="6">
                  <c:v>ClearCr</c:v>
                </c:pt>
                <c:pt idx="7">
                  <c:v>Crawfor</c:v>
                </c:pt>
                <c:pt idx="8">
                  <c:v>CollgCr</c:v>
                </c:pt>
                <c:pt idx="9">
                  <c:v>Others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335000</c:v>
                </c:pt>
                <c:pt idx="1">
                  <c:v>315000</c:v>
                </c:pt>
                <c:pt idx="2">
                  <c:v>278000</c:v>
                </c:pt>
                <c:pt idx="3">
                  <c:v>242000</c:v>
                </c:pt>
                <c:pt idx="4">
                  <c:v>235000</c:v>
                </c:pt>
                <c:pt idx="5">
                  <c:v>228000</c:v>
                </c:pt>
                <c:pt idx="6">
                  <c:v>213000</c:v>
                </c:pt>
                <c:pt idx="7">
                  <c:v>200000</c:v>
                </c:pt>
                <c:pt idx="8">
                  <c:v>197000</c:v>
                </c:pt>
                <c:pt idx="9">
                  <c:v>145000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CD6-483C-BA20-A85C781E62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40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Annual Price Trend (2006–2010)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Price</c:v>
                </c:pt>
              </c:strCache>
            </c:strRef>
          </c:tx>
          <c:spPr>
            <a:ln w="31750" cap="flat">
              <a:solidFill>
                <a:srgbClr val="1B99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175000</c:v>
                </c:pt>
                <c:pt idx="1">
                  <c:v>182000</c:v>
                </c:pt>
                <c:pt idx="2">
                  <c:v>185000</c:v>
                </c:pt>
                <c:pt idx="3">
                  <c:v>179000</c:v>
                </c:pt>
                <c:pt idx="4">
                  <c:v>171000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8BA-4DBD-8A3D-112D835D3C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 Price</c:v>
                </c:pt>
              </c:strCache>
            </c:strRef>
          </c:tx>
          <c:spPr>
            <a:ln w="31750" cap="flat">
              <a:solidFill>
                <a:srgbClr val="E9C46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9C46A"/>
              </a:solidFill>
              <a:ln w="9525" cap="flat">
                <a:solidFill>
                  <a:srgbClr val="E9C46A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162000</c:v>
                </c:pt>
                <c:pt idx="1">
                  <c:v>168000</c:v>
                </c:pt>
                <c:pt idx="2">
                  <c:v>165000</c:v>
                </c:pt>
                <c:pt idx="3">
                  <c:v>160000</c:v>
                </c:pt>
                <c:pt idx="4">
                  <c:v>155000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8BA-4DBD-8A3D-112D835D3C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Monthly Seasonality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Price</c:v>
                </c:pt>
              </c:strCache>
            </c:strRef>
          </c:tx>
          <c:spPr>
            <a:ln w="25400" cap="flat">
              <a:solidFill>
                <a:srgbClr val="0D1B2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1B2A"/>
              </a:solidFill>
              <a:ln w="9525" cap="flat">
                <a:solidFill>
                  <a:srgbClr val="0D1B2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152000</c:v>
                </c:pt>
                <c:pt idx="1">
                  <c:v>155000</c:v>
                </c:pt>
                <c:pt idx="2">
                  <c:v>160000</c:v>
                </c:pt>
                <c:pt idx="3">
                  <c:v>168000</c:v>
                </c:pt>
                <c:pt idx="4">
                  <c:v>175000</c:v>
                </c:pt>
                <c:pt idx="5">
                  <c:v>178000</c:v>
                </c:pt>
                <c:pt idx="6">
                  <c:v>172000</c:v>
                </c:pt>
                <c:pt idx="7">
                  <c:v>170000</c:v>
                </c:pt>
                <c:pt idx="8">
                  <c:v>165000</c:v>
                </c:pt>
                <c:pt idx="9">
                  <c:v>158000</c:v>
                </c:pt>
                <c:pt idx="10">
                  <c:v>150000</c:v>
                </c:pt>
                <c:pt idx="11">
                  <c:v>148000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9B5-46B9-BBFB-04CAF4DBC7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8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Price Gap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Properties</c:v>
                </c:pt>
              </c:strCache>
            </c:strRef>
          </c:tx>
          <c:spPr>
            <a:solidFill>
              <a:srgbClr val="C84B3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6D1-4387-AAD1-59292D1E3C98}"/>
              </c:ext>
            </c:extLst>
          </c:dPt>
          <c:dPt>
            <c:idx val="1"/>
            <c:invertIfNegative val="0"/>
            <c:bubble3D val="0"/>
            <c:spPr>
              <a:solidFill>
                <a:srgbClr val="E07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6D1-4387-AAD1-59292D1E3C98}"/>
              </c:ext>
            </c:extLst>
          </c:dPt>
          <c:dPt>
            <c:idx val="2"/>
            <c:invertIfNegative val="0"/>
            <c:bubble3D val="0"/>
            <c:spPr>
              <a:solidFill>
                <a:srgbClr val="F2CC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6D1-4387-AAD1-59292D1E3C98}"/>
              </c:ext>
            </c:extLst>
          </c:dPt>
          <c:dPt>
            <c:idx val="3"/>
            <c:invertIfNegative val="0"/>
            <c:bubble3D val="0"/>
            <c:spPr>
              <a:solidFill>
                <a:srgbClr val="A8DA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6D1-4387-AAD1-59292D1E3C98}"/>
              </c:ext>
            </c:extLst>
          </c:dPt>
          <c:dPt>
            <c:idx val="4"/>
            <c:invertIfNegative val="0"/>
            <c:bubble3D val="0"/>
            <c:spPr>
              <a:solidFill>
                <a:srgbClr val="3D99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6D1-4387-AAD1-59292D1E3C98}"/>
              </c:ext>
            </c:extLst>
          </c:dPt>
          <c:dPt>
            <c:idx val="5"/>
            <c:invertIfNegative val="0"/>
            <c:bubble3D val="0"/>
            <c:spPr>
              <a:solidFill>
                <a:srgbClr val="1B99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6D1-4387-AAD1-59292D1E3C98}"/>
              </c:ext>
            </c:extLst>
          </c:dPt>
          <c:cat>
            <c:strRef>
              <c:f>Sheet1!$A$2:$A$7</c:f>
              <c:strCache>
                <c:ptCount val="6"/>
                <c:pt idx="0">
                  <c:v>&lt; -$80K</c:v>
                </c:pt>
                <c:pt idx="1">
                  <c:v>−$80K to −$40K</c:v>
                </c:pt>
                <c:pt idx="2">
                  <c:v>−$40K to 0</c:v>
                </c:pt>
                <c:pt idx="3">
                  <c:v>0 to +$40K</c:v>
                </c:pt>
                <c:pt idx="4">
                  <c:v>+$40K to +$80K</c:v>
                </c:pt>
                <c:pt idx="5">
                  <c:v>&gt; +$80K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</c:v>
                </c:pt>
                <c:pt idx="1">
                  <c:v>127</c:v>
                </c:pt>
                <c:pt idx="2">
                  <c:v>298</c:v>
                </c:pt>
                <c:pt idx="3">
                  <c:v>312</c:v>
                </c:pt>
                <c:pt idx="4">
                  <c:v>145</c:v>
                </c:pt>
                <c:pt idx="5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6D1-4387-AAD1-59292D1E3C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E40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0554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457200" cy="507034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73152"/>
            <a:ext cx="2926080" cy="5070348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1097280"/>
            <a:ext cx="164592" cy="2743200"/>
          </a:xfrm>
          <a:prstGeom prst="rect">
            <a:avLst/>
          </a:prstGeom>
          <a:solidFill>
            <a:srgbClr val="1B998B">
              <a:alpha val="40000"/>
            </a:srgbClr>
          </a:solidFill>
          <a:ln w="12700">
            <a:solidFill>
              <a:srgbClr val="1B998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39712" y="1097280"/>
            <a:ext cx="164592" cy="2286000"/>
          </a:xfrm>
          <a:prstGeom prst="rect">
            <a:avLst/>
          </a:prstGeom>
          <a:solidFill>
            <a:srgbClr val="1B998B">
              <a:alpha val="40000"/>
            </a:srgbClr>
          </a:solidFill>
          <a:ln w="12700">
            <a:solidFill>
              <a:srgbClr val="1B998B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87184" y="1097280"/>
            <a:ext cx="164592" cy="1828800"/>
          </a:xfrm>
          <a:prstGeom prst="rect">
            <a:avLst/>
          </a:prstGeom>
          <a:solidFill>
            <a:srgbClr val="1B998B">
              <a:alpha val="40000"/>
            </a:srgbClr>
          </a:solidFill>
          <a:ln w="12700">
            <a:solidFill>
              <a:srgbClr val="1B998B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34656" y="1097280"/>
            <a:ext cx="164592" cy="2743200"/>
          </a:xfrm>
          <a:prstGeom prst="rect">
            <a:avLst/>
          </a:prstGeom>
          <a:solidFill>
            <a:srgbClr val="1B998B">
              <a:alpha val="40000"/>
            </a:srgbClr>
          </a:solidFill>
          <a:ln w="12700">
            <a:solidFill>
              <a:srgbClr val="1B998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82128" y="1097280"/>
            <a:ext cx="164592" cy="2286000"/>
          </a:xfrm>
          <a:prstGeom prst="rect">
            <a:avLst/>
          </a:prstGeom>
          <a:solidFill>
            <a:srgbClr val="1B998B">
              <a:alpha val="40000"/>
            </a:srgbClr>
          </a:solidFill>
          <a:ln w="12700">
            <a:solidFill>
              <a:srgbClr val="1B998B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1097280"/>
            <a:ext cx="164592" cy="1828800"/>
          </a:xfrm>
          <a:prstGeom prst="rect">
            <a:avLst/>
          </a:prstGeom>
          <a:solidFill>
            <a:srgbClr val="1B998B">
              <a:alpha val="40000"/>
            </a:srgbClr>
          </a:solidFill>
          <a:ln w="12700">
            <a:solidFill>
              <a:srgbClr val="1B998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3200400"/>
            <a:ext cx="320040" cy="1371600"/>
          </a:xfrm>
          <a:prstGeom prst="rect">
            <a:avLst/>
          </a:prstGeom>
          <a:solidFill>
            <a:srgbClr val="E9C46A">
              <a:alpha val="45000"/>
            </a:srgbClr>
          </a:solidFill>
          <a:ln w="12700">
            <a:solidFill>
              <a:srgbClr val="E9C46A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76288" y="3200400"/>
            <a:ext cx="320040" cy="1005840"/>
          </a:xfrm>
          <a:prstGeom prst="rect">
            <a:avLst/>
          </a:prstGeom>
          <a:solidFill>
            <a:srgbClr val="E9C46A">
              <a:alpha val="45000"/>
            </a:srgbClr>
          </a:solidFill>
          <a:ln w="12700">
            <a:solidFill>
              <a:srgbClr val="E9C46A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51776" y="3200400"/>
            <a:ext cx="320040" cy="1371600"/>
          </a:xfrm>
          <a:prstGeom prst="rect">
            <a:avLst/>
          </a:prstGeom>
          <a:solidFill>
            <a:srgbClr val="E9C46A">
              <a:alpha val="45000"/>
            </a:srgbClr>
          </a:solidFill>
          <a:ln w="12700">
            <a:solidFill>
              <a:srgbClr val="E9C46A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27264" y="3200400"/>
            <a:ext cx="320040" cy="1005840"/>
          </a:xfrm>
          <a:prstGeom prst="rect">
            <a:avLst/>
          </a:prstGeom>
          <a:solidFill>
            <a:srgbClr val="E9C46A">
              <a:alpha val="45000"/>
            </a:srgbClr>
          </a:solidFill>
          <a:ln w="12700">
            <a:solidFill>
              <a:srgbClr val="E9C46A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1B998B"/>
                </a:solidFill>
              </a:rPr>
              <a:t>MARKET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777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E9C46A"/>
                </a:solidFill>
              </a:rPr>
              <a:t>ANALYTICS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822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Estate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40080" y="1417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B9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Intelligence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4008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3B1"/>
                </a:solidFill>
              </a:rPr>
              <a:t>Exploratory Data Analysis for House Valuation Dynamics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2651760"/>
            <a:ext cx="3200400" cy="3657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8346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NextHikes IT Solutions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</a:rPr>
              <a:t>Sumeet Rajput  ·  EDA Project  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B998B">
              <a:alpha val="20000"/>
            </a:srgbClr>
          </a:solidFill>
          <a:ln w="12700">
            <a:solidFill>
              <a:srgbClr val="1B998B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Ames Housing Dataset  ·  1,460 Properties  ·  81 Features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96012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8988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Determining an optimal and competitive house price is multifaceted. Real estate companies need a data-driven approach to identify which variables truly drive valuation — and by how much.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2651760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2651760" cy="5486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F4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94360" y="2788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Identify Drivers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090672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Uncover which features — size, quality, location, amenities — most significantly impact house prices.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2240280"/>
            <a:ext cx="2651760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2240280"/>
            <a:ext cx="2651760" cy="5486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F4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383280" y="2788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Detect Patterns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3090672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Use statistical methods and visualisations to reveal hidden correlations, outliers, and market trends.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240280"/>
            <a:ext cx="2651760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2240280"/>
            <a:ext cx="2651760" cy="5486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F4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72200" y="2788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Enable Decisions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3090672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Deliver actionable insights for acquisition, pricing strategy, and identifying investment opportunities.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TASK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8745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34440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998B"/>
                </a:solidFill>
              </a:rPr>
              <a:t>1,460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813255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4057"/>
                </a:solidFill>
              </a:rPr>
              <a:t>Property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42032" y="1097280"/>
            <a:ext cx="18745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1234440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998B"/>
                </a:solidFill>
              </a:rPr>
              <a:t>81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42032" y="1813255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4057"/>
                </a:solidFill>
              </a:rPr>
              <a:t>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097280"/>
            <a:ext cx="18745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234440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998B"/>
                </a:solidFill>
              </a:rPr>
              <a:t>$181K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26864" y="1813255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4057"/>
                </a:solidFill>
              </a:rPr>
              <a:t>Average Sale Price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11696" y="1097280"/>
            <a:ext cx="18745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11696" y="1234440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998B"/>
                </a:solidFill>
              </a:rPr>
              <a:t>2006–10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11696" y="1813255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4057"/>
                </a:solidFill>
              </a:rPr>
              <a:t>Sale Years (Ames, Iowa)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388620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514600"/>
            <a:ext cx="54864" cy="2331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262432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Feature Categories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" y="2916936"/>
            <a:ext cx="3630168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Location: Neighborhood, Zoning, Street type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Size: GrLivArea, TotalSF, LotArea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Quality: OverallQual, OverallCond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Amenities: GarageCars, Fireplaces, Pool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Time: YrSold, MoSold, YearBuilt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26280" y="2514600"/>
            <a:ext cx="416052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26280" y="2514600"/>
            <a:ext cx="54864" cy="2331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0872" y="262432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Data Quality Actions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90872" y="2916936"/>
            <a:ext cx="3904488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Numeric missing values → filled with column median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GarageYrBlt = 0 for properties with no garage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Categorical nulls → filled with 'None'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4 extreme outliers removed (GrLivArea ≥ 4,000 sqft)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Zero duplicate records found — dataset is clean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TASK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4057"/>
                </a:solidFill>
              </a:rPr>
              <a:t>10 new features were created to capture dimensions that raw columns miss: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581912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1581912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54480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HouseAge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1399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057"/>
                </a:solidFill>
              </a:rPr>
              <a:t>Years since built at time of sale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30552" y="1417320"/>
            <a:ext cx="1581912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30552" y="1417320"/>
            <a:ext cx="1581912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21992" y="1554480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RemodelAge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21992" y="1874520"/>
            <a:ext cx="1399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057"/>
                </a:solidFill>
              </a:rPr>
              <a:t>Years since last remodel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03904" y="1417320"/>
            <a:ext cx="1581912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03904" y="1417320"/>
            <a:ext cx="1581912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5344" y="1554480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TotalBath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95344" y="1874520"/>
            <a:ext cx="1399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057"/>
                </a:solidFill>
              </a:rPr>
              <a:t>Full + 0.5× half baths (incl. basement)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77256" y="1417320"/>
            <a:ext cx="1581912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77256" y="1417320"/>
            <a:ext cx="1581912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68696" y="1554480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TotalSF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68696" y="1874520"/>
            <a:ext cx="1399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057"/>
                </a:solidFill>
              </a:rPr>
              <a:t>Above ground + basement sq ft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50608" y="1417320"/>
            <a:ext cx="1581912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50608" y="1417320"/>
            <a:ext cx="1581912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42048" y="1554480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PricePerSqFt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42048" y="1874520"/>
            <a:ext cx="1399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057"/>
                </a:solidFill>
              </a:rPr>
              <a:t>SalePrice ÷ GrLivArea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044952"/>
            <a:ext cx="1581912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044952"/>
            <a:ext cx="1581912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1821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LogSalePrice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3502152"/>
            <a:ext cx="1399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057"/>
                </a:solidFill>
              </a:rPr>
              <a:t>log(1+SalePrice) — normalises skew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30552" y="3044952"/>
            <a:ext cx="1581912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130552" y="3044952"/>
            <a:ext cx="1581912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21992" y="31821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Size_Quality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221992" y="3502152"/>
            <a:ext cx="1399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057"/>
                </a:solidFill>
              </a:rPr>
              <a:t>GrLivArea × OverallQual interaction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03904" y="3044952"/>
            <a:ext cx="1581912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803904" y="3044952"/>
            <a:ext cx="1581912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95344" y="31821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HasPool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895344" y="3502152"/>
            <a:ext cx="1399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057"/>
                </a:solidFill>
              </a:rPr>
              <a:t>Binary flag: pool present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77256" y="3044952"/>
            <a:ext cx="1581912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77256" y="3044952"/>
            <a:ext cx="1581912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68696" y="31821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HasFireplace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568696" y="3502152"/>
            <a:ext cx="1399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057"/>
                </a:solidFill>
              </a:rPr>
              <a:t>Binary flag: fireplace present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150608" y="3044952"/>
            <a:ext cx="1581912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150608" y="3044952"/>
            <a:ext cx="1581912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42048" y="31821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PriceSegment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242048" y="3502152"/>
            <a:ext cx="1399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057"/>
                </a:solidFill>
              </a:rPr>
              <a:t>Budget / Mid / Premium / Luxury quartiles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TASK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Univariate Analysis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05156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051560"/>
            <a:ext cx="28803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108813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998B"/>
                </a:solidFill>
              </a:rPr>
              <a:t>$163,000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760720" y="141732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</a:rPr>
              <a:t>Median Price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60720" y="1801368"/>
            <a:ext cx="2880360" cy="640080"/>
          </a:xfrm>
          <a:prstGeom prst="rect">
            <a:avLst/>
          </a:prstGeom>
          <a:solidFill>
            <a:srgbClr val="E8F4F2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183794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998B"/>
                </a:solidFill>
              </a:rPr>
              <a:t>$181,000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760720" y="21671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</a:rPr>
              <a:t>Mean Price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2551176"/>
            <a:ext cx="28803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60720" y="258775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998B"/>
                </a:solidFill>
              </a:rPr>
              <a:t>1.88 (right)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760720" y="291693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</a:rPr>
              <a:t>Skewness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60720" y="3300984"/>
            <a:ext cx="2880360" cy="640080"/>
          </a:xfrm>
          <a:prstGeom prst="rect">
            <a:avLst/>
          </a:prstGeom>
          <a:solidFill>
            <a:srgbClr val="E8F4F2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60720" y="333756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998B"/>
                </a:solidFill>
              </a:rPr>
              <a:t>$34K – $755K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760720" y="366674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</a:rPr>
              <a:t>Price Range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94360" y="44348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💡  Log-transformation applied to SalePrice normalises the right skew — this is used as the regression target to satisfy OLS assumptions.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TASK 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 &amp; Quality Impact on Price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051560"/>
          <a:ext cx="51206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1051560"/>
            <a:ext cx="2880360" cy="3108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0" y="1051560"/>
            <a:ext cx="54864" cy="31089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71032" y="1161288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71032" y="1453896"/>
            <a:ext cx="262432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Size × Quality interaction (r=0.82) beats either feature alone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Each quality point adds ~$15,000 on average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Living area shows strong linear relationship up to ~2,500 sqft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HouseAge negatively correlated — older = lower value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Garages add meaningful premium per parking space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34340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The combined Size_Quality feature is the single strongest predictor — capturing the compounding effect of both space and build quality.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TASKS 4 &amp;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 Premium &amp; Amenities Impact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051560"/>
          <a:ext cx="51206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051560"/>
            <a:ext cx="28803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60720" y="1051560"/>
            <a:ext cx="54864" cy="7498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70448" y="10881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998B"/>
                </a:solidFill>
              </a:rPr>
              <a:t>+38%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870448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2+ Car Garage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7512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</a:rPr>
              <a:t>median price premium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1920240"/>
            <a:ext cx="28803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1920240"/>
            <a:ext cx="54864" cy="749808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70448" y="19568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4057"/>
                </a:solidFill>
              </a:rPr>
              <a:t>+29%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870448" y="2313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Fireplace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67512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</a:rPr>
              <a:t>median price premium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60720" y="2788920"/>
            <a:ext cx="28803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2788920"/>
            <a:ext cx="54864" cy="7498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70448" y="28254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+22%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870448" y="3182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Pool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675120" y="2834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</a:rPr>
              <a:t>median price premium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3840480"/>
            <a:ext cx="822960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" y="3840480"/>
            <a:ext cx="54864" cy="10515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" y="3950208"/>
            <a:ext cx="7973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Location Insight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21792" y="4242816"/>
            <a:ext cx="79735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Top-tier neighborhoods (NoRidge, NridgHt) command 2× the price of bottom-tier areas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Neighborhood is the strongest non-physical driver of price — location premiums persist even after controlling for size and quality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TASK 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Trends &amp; Historical Pricing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051560"/>
          <a:ext cx="5029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57200" y="3657600"/>
          <a:ext cx="5029200" cy="132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760720" y="1051560"/>
            <a:ext cx="288036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760720" y="1051560"/>
            <a:ext cx="54864" cy="19659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25312" y="1161288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Annual Trend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925312" y="1453896"/>
            <a:ext cx="262432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Prices peaked in 2008 then declined — mirrors the US housing correction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Mean consistently above median → premium properties skew the average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2010 shows lowest volumes, market still recovering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760720" y="3154680"/>
            <a:ext cx="288036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60720" y="3154680"/>
            <a:ext cx="54864" cy="18288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25312" y="3264408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Seasonal Pattern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925312" y="3557016"/>
            <a:ext cx="26243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May–July = peak selling season (+15% vs winter)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Nov–Jan = buyer's market — lowest median prices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E4057"/>
                </a:solidFill>
              </a:rPr>
              <a:t>Q2 is the optimal window for sellers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STATISTICAL MODELLING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Model &amp; Multicollinearity Check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874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3444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998B"/>
                </a:solidFill>
              </a:rPr>
              <a:t>0.847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733702"/>
            <a:ext cx="187452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4057"/>
                </a:solidFill>
              </a:rPr>
              <a:t>OLS Adj-R²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42032" y="1097280"/>
            <a:ext cx="1874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123444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998B"/>
                </a:solidFill>
              </a:rPr>
              <a:t>0.881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42032" y="1733702"/>
            <a:ext cx="187452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4057"/>
                </a:solidFill>
              </a:rPr>
              <a:t>RF Test R²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097280"/>
            <a:ext cx="1874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23444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998B"/>
                </a:solidFill>
              </a:rPr>
              <a:t>0.863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26864" y="1733702"/>
            <a:ext cx="187452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4057"/>
                </a:solidFill>
              </a:rPr>
              <a:t>5-Fold CV R²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11696" y="1097280"/>
            <a:ext cx="1874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11696" y="123444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998B"/>
                </a:solidFill>
              </a:rPr>
              <a:t>0.11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11696" y="1733702"/>
            <a:ext cx="187452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4057"/>
                </a:solidFill>
              </a:rPr>
              <a:t>RMSE (log scale)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3591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OLS Coefficients (Log-transformed target)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70048"/>
          <a:ext cx="5029200" cy="211226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Coefficient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GrLivArea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0.00043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 0.001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OverallQual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0.0921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 0.001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GarageCars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0.0512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 0.001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HouseAge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-0.0021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0.002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Size_Quality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0.00009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 0.001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TotalBath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0.0318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0.008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760720" y="23591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VIF — Multicollinearity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670048"/>
          <a:ext cx="2880360" cy="181051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VIF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GrLivArea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✅ OK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OverallQual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✅ OK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GarageCars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✅ OK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HouseAge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✅ OK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TotalBath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✅ OK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5760720" y="4572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998B"/>
                </a:solidFill>
              </a:rPr>
              <a:t>All VIF values &lt; 5 — no multicollinearity concerns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TASK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Segmentation — Buyer Personas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4057"/>
                </a:solidFill>
              </a:rPr>
              <a:t>K-Means clustering (k=4) on GrLivArea, OverallQual, GarageCars, PricePerSqFt — validated with Elbow &amp; Silhouette analysis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92024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1920240" cy="502920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447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Budget Buyer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998B"/>
                </a:solidFill>
              </a:rPr>
              <a:t>~$115K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258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Avg Price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998B"/>
                </a:solidFill>
              </a:rPr>
              <a:t>~1,050 sqft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7614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Avg Area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998B"/>
                </a:solidFill>
              </a:rPr>
              <a:t>4.5 / 10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2644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Quality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4057"/>
                </a:solidFill>
              </a:rPr>
              <a:t>Entry-level homes, older builds, minimal amenities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42032" y="1417320"/>
            <a:ext cx="192024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42032" y="1417320"/>
            <a:ext cx="1920240" cy="5029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14447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Family Buyer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33472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998B"/>
                </a:solidFill>
              </a:rPr>
              <a:t>~$160K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33472" y="2258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Avg Price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33472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998B"/>
                </a:solidFill>
              </a:rPr>
              <a:t>~1,450 sqft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633472" y="27614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Avg Area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33472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998B"/>
                </a:solidFill>
              </a:rPr>
              <a:t>6.0 / 10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633472" y="32644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Quality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33472" y="35661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4057"/>
                </a:solidFill>
              </a:rPr>
              <a:t>Mid-range, 3-bed, standard garage, good condition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26864" y="1417320"/>
            <a:ext cx="192024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26864" y="1417320"/>
            <a:ext cx="1920240" cy="50292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14447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Premium Buyer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18304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998B"/>
                </a:solidFill>
              </a:rPr>
              <a:t>~$230K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18304" y="2258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Avg Price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18304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998B"/>
                </a:solidFill>
              </a:rPr>
              <a:t>~1,900 sqft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18304" y="27614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Avg Area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18304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998B"/>
                </a:solidFill>
              </a:rPr>
              <a:t>7.5 / 10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18304" y="32644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Quality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18304" y="35661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4057"/>
                </a:solidFill>
              </a:rPr>
              <a:t>Larger footprint, updated kitchens, quality finishes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11696" y="1417320"/>
            <a:ext cx="192024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11696" y="1417320"/>
            <a:ext cx="1920240" cy="5029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11696" y="14447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Luxury Buyer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03136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998B"/>
                </a:solidFill>
              </a:rPr>
              <a:t>~$380K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03136" y="22585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Avg Price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03136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998B"/>
                </a:solidFill>
              </a:rPr>
              <a:t>~2,700 sqft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03136" y="27614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Avg Area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03136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998B"/>
                </a:solidFill>
              </a:rPr>
              <a:t>9.0 / 10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803136" y="32644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</a:rPr>
              <a:t>Quality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03136" y="35661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4057"/>
                </a:solidFill>
              </a:rPr>
              <a:t>Top neighborhoods, pools, 3-car garages, premium build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solidFill>
            <a:srgbClr val="E8F4F2"/>
          </a:solidFill>
          <a:ln w="12700">
            <a:solidFill>
              <a:srgbClr val="D9E5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4057"/>
                </a:solidFill>
              </a:rPr>
              <a:t>Silhouette score = 0.41 at k=4 — moderate separation confirms distinct, meaningful segments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ANALYSIS OUTPUT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Opportunity Analysis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621792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789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</a:rPr>
              <a:t>Price Gap = Actual Sale Price − OLS Model Predicted Price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3502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 negative gap means the property sold below what the model says it should be worth — a potential undervalued acquisition target.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57200" y="1828800"/>
          <a:ext cx="502920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760720" y="1828800"/>
            <a:ext cx="288036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1828800"/>
            <a:ext cx="54864" cy="89611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18836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Buy Zone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178040" y="18836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998B"/>
                </a:solidFill>
              </a:rPr>
              <a:t>Gap &lt; −$40K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97880" y="213969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057"/>
                </a:solidFill>
              </a:rPr>
              <a:t>173 properties selling well below model value — prime targets for value investors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2834640"/>
            <a:ext cx="288036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60720" y="2834640"/>
            <a:ext cx="54864" cy="896112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28895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Fair Value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178040" y="28895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4057"/>
                </a:solidFill>
              </a:rPr>
              <a:t>Gap −$40K to +$40K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97880" y="314553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057"/>
                </a:solidFill>
              </a:rPr>
              <a:t>610 properties fairly priced — stable investments for buy-and-hold strategy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60720" y="3840480"/>
            <a:ext cx="288036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760720" y="3840480"/>
            <a:ext cx="54864" cy="896112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38953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Overpriced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178040" y="38953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84B31"/>
                </a:solidFill>
              </a:rPr>
              <a:t>Gap &gt; +$40K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897880" y="415137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057"/>
                </a:solidFill>
              </a:rPr>
              <a:t>223 properties priced above model — negotiate hard or wait for price correction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CONCLUSIONS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&amp; Recommendations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6908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406908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070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99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15568" y="1207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Quality × Size is the #1 Value Driver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627632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The interaction of living area and build quality (r=0.82) outperforms either feature alone. Sellers should invest in quality upgrades before listing.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097280"/>
            <a:ext cx="406908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97280"/>
            <a:ext cx="4069080" cy="64008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2070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40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58968" y="1207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Neighbourhood Premiums are Persistent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627632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Top-tier neighbourhoods command a 2× price premium. Buyers seeking value should target mid-tier areas with improving infrastructure.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6908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406908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272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15568" y="31272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Sell in May–July, Buy in November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547872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Seasonal analysis confirms a consistent 15% price premium in summer. Sellers gain by timing listings to peak season.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017520"/>
            <a:ext cx="406908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017520"/>
            <a:ext cx="4069080" cy="64008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1272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58968" y="31272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173 Undervalued Properties Identified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547872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</a:rPr>
              <a:t>The price-gap model flagged properties selling at ≥$40K below predicted value — direct targets for investment acquisition.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</a:rPr>
              <a:t>Model Adj-R² = 0.847  ·  4 Buyer Personas  ·  173 Investment Targets  ·  Ames Iowa Dataset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64008"/>
            <a:ext cx="2286000" cy="5015484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1371600"/>
            <a:ext cx="228600" cy="2286000"/>
          </a:xfrm>
          <a:prstGeom prst="rect">
            <a:avLst/>
          </a:prstGeom>
          <a:solidFill>
            <a:srgbClr val="1B998B">
              <a:alpha val="35000"/>
            </a:srgbClr>
          </a:solidFill>
          <a:ln w="12700">
            <a:solidFill>
              <a:srgbClr val="1B998B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371600"/>
            <a:ext cx="228600" cy="2011680"/>
          </a:xfrm>
          <a:prstGeom prst="rect">
            <a:avLst/>
          </a:prstGeom>
          <a:solidFill>
            <a:srgbClr val="1B998B">
              <a:alpha val="35000"/>
            </a:srgbClr>
          </a:solidFill>
          <a:ln w="12700">
            <a:solidFill>
              <a:srgbClr val="1B998B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1371600"/>
            <a:ext cx="228600" cy="1737360"/>
          </a:xfrm>
          <a:prstGeom prst="rect">
            <a:avLst/>
          </a:prstGeom>
          <a:solidFill>
            <a:srgbClr val="1B998B">
              <a:alpha val="35000"/>
            </a:srgbClr>
          </a:solidFill>
          <a:ln w="12700">
            <a:solidFill>
              <a:srgbClr val="1B998B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1371600"/>
            <a:ext cx="228600" cy="1463040"/>
          </a:xfrm>
          <a:prstGeom prst="rect">
            <a:avLst/>
          </a:prstGeom>
          <a:solidFill>
            <a:srgbClr val="1B998B">
              <a:alpha val="35000"/>
            </a:srgbClr>
          </a:solidFill>
          <a:ln w="12700">
            <a:solidFill>
              <a:srgbClr val="1B998B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1371600"/>
            <a:ext cx="228600" cy="1188720"/>
          </a:xfrm>
          <a:prstGeom prst="rect">
            <a:avLst/>
          </a:prstGeom>
          <a:solidFill>
            <a:srgbClr val="1B998B">
              <a:alpha val="35000"/>
            </a:srgbClr>
          </a:solidFill>
          <a:ln w="12700">
            <a:solidFill>
              <a:srgbClr val="1B998B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0972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274320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860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Sumeet Rajput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</a:rPr>
              <a:t>NextHikes IT Solutions  ·  EDA Project  ·  Jan 2026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</a:rPr>
              <a:t>Dataset: </a:t>
            </a:r>
            <a:r>
              <a:rPr lang="en-US" sz="1100" dirty="0">
                <a:solidFill>
                  <a:srgbClr val="8FA3B1"/>
                </a:solidFill>
              </a:rPr>
              <a:t>Ames Housing Dataset  ·  1,456 clean records  ·  81 features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</a:rPr>
              <a:t>Tools: </a:t>
            </a:r>
            <a:r>
              <a:rPr lang="en-US" sz="1100" dirty="0">
                <a:solidFill>
                  <a:srgbClr val="8FA3B1"/>
                </a:solidFill>
              </a:rPr>
              <a:t>Python  ·  Pandas  ·  Seaborn  ·  Statsmodels  ·  Scikit-learn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977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</a:rPr>
              <a:t>Methods: </a:t>
            </a:r>
            <a:r>
              <a:rPr lang="en-US" sz="1100" dirty="0">
                <a:solidFill>
                  <a:srgbClr val="8FA3B1"/>
                </a:solidFill>
              </a:rPr>
              <a:t>EDA  ·  OLS Regression  ·  Random Forest  ·  K-Means Clustering  ·  VIF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1141</Words>
  <Application>Microsoft Office PowerPoint</Application>
  <PresentationFormat>On-screen Show (16:9)</PresentationFormat>
  <Paragraphs>251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Price Intelligence — NextHikes EDA</dc:title>
  <dc:subject>PptxGenJS Presentation</dc:subject>
  <dc:creator>Sumeet Rajput</dc:creator>
  <cp:lastModifiedBy>Sumeet Rajput</cp:lastModifiedBy>
  <cp:revision>2</cp:revision>
  <dcterms:created xsi:type="dcterms:W3CDTF">2026-03-23T10:20:44Z</dcterms:created>
  <dcterms:modified xsi:type="dcterms:W3CDTF">2026-03-23T10:24:10Z</dcterms:modified>
</cp:coreProperties>
</file>